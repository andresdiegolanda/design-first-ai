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7509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Design-First</a:t>
            </a:r>
            <a:endParaRPr lang="en-US" sz="5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Collaboration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02920" y="30632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implementation of Rahul Garg's patterns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" y="35844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martinfowler.com  ·  February–April 2026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395020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github.com/andresdiegolanda/design-first-ai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427939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License  ·  v1.5.0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4736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Andrés Landa  ·  26 years Java/Spring  ·  Merged contribution in Spring AI  ·  Applied Generative AI Certification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patterns to reduce friction in AI-assisted development — moving from correcting a tool to collaborating with a capable partner.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48463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54864" cy="1207008"/>
          </a:xfrm>
          <a:prstGeom prst="rect">
            <a:avLst/>
          </a:prstGeom>
          <a:solidFill>
            <a:srgbClr val="5B6BF5"/>
          </a:solidFill>
          <a:ln w="12700">
            <a:solidFill>
              <a:srgbClr val="5B6BF5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" name="Text 4"/>
          <p:cNvSpPr/>
          <p:nvPr/>
        </p:nvSpPr>
        <p:spPr>
          <a:xfrm>
            <a:off x="475488" y="132588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6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 Fowler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75488" y="1655064"/>
            <a:ext cx="4617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author in software engineering.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5488" y="1828800"/>
            <a:ext cx="4617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Scientist at Thoughtworks since 2000.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5488" y="2002536"/>
            <a:ext cx="4617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site martinfowler.com is the most influential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5488" y="2176272"/>
            <a:ext cx="4617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publication in the industry.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587752"/>
            <a:ext cx="48463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2" name="Shape 10"/>
          <p:cNvSpPr/>
          <p:nvPr/>
        </p:nvSpPr>
        <p:spPr>
          <a:xfrm>
            <a:off x="320040" y="2587752"/>
            <a:ext cx="54864" cy="1207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3" name="Text 11"/>
          <p:cNvSpPr/>
          <p:nvPr/>
        </p:nvSpPr>
        <p:spPr>
          <a:xfrm>
            <a:off x="475488" y="267919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 Garg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5488" y="3008376"/>
            <a:ext cx="4617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Engineer @ Thoughtworks — global software consultancy,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5488" y="3182112"/>
            <a:ext cx="4617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in engineering practices.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5488" y="3355848"/>
            <a:ext cx="4617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five patterns on martinfowler.com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5488" y="3529584"/>
            <a:ext cx="4617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(Feb–Apr 2026) on how to use AI in teams.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394960" y="118872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patterns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376672" y="1600200"/>
            <a:ext cx="107899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20" name="Shape 18"/>
          <p:cNvSpPr/>
          <p:nvPr/>
        </p:nvSpPr>
        <p:spPr>
          <a:xfrm>
            <a:off x="5376672" y="1600200"/>
            <a:ext cx="1078992" cy="54864"/>
          </a:xfrm>
          <a:prstGeom prst="rect">
            <a:avLst/>
          </a:prstGeom>
          <a:solidFill>
            <a:srgbClr val="5B6BF5"/>
          </a:solidFill>
          <a:ln w="12700">
            <a:solidFill>
              <a:srgbClr val="5B6BF5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1" name="Text 19"/>
          <p:cNvSpPr/>
          <p:nvPr/>
        </p:nvSpPr>
        <p:spPr>
          <a:xfrm>
            <a:off x="5468112" y="1691640"/>
            <a:ext cx="941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68112" y="2167128"/>
            <a:ext cx="941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context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every session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537960" y="1600200"/>
            <a:ext cx="107899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24" name="Shape 22"/>
          <p:cNvSpPr/>
          <p:nvPr/>
        </p:nvSpPr>
        <p:spPr>
          <a:xfrm>
            <a:off x="6537960" y="1600200"/>
            <a:ext cx="1078992" cy="54864"/>
          </a:xfrm>
          <a:prstGeom prst="rect">
            <a:avLst/>
          </a:prstGeom>
          <a:solidFill>
            <a:srgbClr val="5B6BF5"/>
          </a:solidFill>
          <a:ln w="12700">
            <a:solidFill>
              <a:srgbClr val="5B6BF5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5" name="Text 23"/>
          <p:cNvSpPr/>
          <p:nvPr/>
        </p:nvSpPr>
        <p:spPr>
          <a:xfrm>
            <a:off x="6629400" y="1691640"/>
            <a:ext cx="941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Design-First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629400" y="2167128"/>
            <a:ext cx="941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before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699248" y="1600200"/>
            <a:ext cx="107899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28" name="Shape 26"/>
          <p:cNvSpPr/>
          <p:nvPr/>
        </p:nvSpPr>
        <p:spPr>
          <a:xfrm>
            <a:off x="7699248" y="1600200"/>
            <a:ext cx="1078992" cy="54864"/>
          </a:xfrm>
          <a:prstGeom prst="rect">
            <a:avLst/>
          </a:prstGeom>
          <a:solidFill>
            <a:srgbClr val="5B6BF5"/>
          </a:solidFill>
          <a:ln w="12700">
            <a:solidFill>
              <a:srgbClr val="5B6BF5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9" name="Text 27"/>
          <p:cNvSpPr/>
          <p:nvPr/>
        </p:nvSpPr>
        <p:spPr>
          <a:xfrm>
            <a:off x="7790688" y="1691640"/>
            <a:ext cx="941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Team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790688" y="2167128"/>
            <a:ext cx="941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Senior's judgment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versioned files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957316" y="2734056"/>
            <a:ext cx="107899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32" name="Shape 30"/>
          <p:cNvSpPr/>
          <p:nvPr/>
        </p:nvSpPr>
        <p:spPr>
          <a:xfrm>
            <a:off x="5957316" y="2734056"/>
            <a:ext cx="1078992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3" name="Text 31"/>
          <p:cNvSpPr/>
          <p:nvPr/>
        </p:nvSpPr>
        <p:spPr>
          <a:xfrm>
            <a:off x="6048756" y="2825496"/>
            <a:ext cx="941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Anchoring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048756" y="3300984"/>
            <a:ext cx="941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that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across sessions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118604" y="2734056"/>
            <a:ext cx="107899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36" name="Shape 34"/>
          <p:cNvSpPr/>
          <p:nvPr/>
        </p:nvSpPr>
        <p:spPr>
          <a:xfrm>
            <a:off x="7118604" y="2734056"/>
            <a:ext cx="1078992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7" name="Text 35"/>
          <p:cNvSpPr/>
          <p:nvPr/>
        </p:nvSpPr>
        <p:spPr>
          <a:xfrm>
            <a:off x="7210044" y="2825496"/>
            <a:ext cx="941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Flywheel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210044" y="3300984"/>
            <a:ext cx="941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retrospective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the other four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1B2845"/>
          </a:solidFill>
          <a:ln w="12700">
            <a:solidFill>
              <a:srgbClr val="1B2845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0" name="Text 38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framework is the practical implementation of those five patterns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8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Validation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45720" cy="3474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Shape 2"/>
          <p:cNvSpPr/>
          <p:nvPr/>
        </p:nvSpPr>
        <p:spPr>
          <a:xfrm>
            <a:off x="594360" y="868680"/>
            <a:ext cx="4937760" cy="3474720"/>
          </a:xfrm>
          <a:prstGeom prst="rect">
            <a:avLst/>
          </a:prstGeom>
          <a:solidFill>
            <a:srgbClr val="0F1729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2" name="Text 10"/>
          <p:cNvSpPr/>
          <p:nvPr/>
        </p:nvSpPr>
        <p:spPr>
          <a:xfrm>
            <a:off x="5806440" y="109728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greatest compliment</a:t>
            </a:r>
            <a:endParaRPr lang="en-US" sz="2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writer</a:t>
            </a:r>
            <a:endParaRPr lang="en-US" sz="2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receive"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806440" y="283464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 Garg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06440" y="320040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Engineer @ Thoughtworks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of the patterns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martinfowler.com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06440" y="3977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Starred the repo  ·  Public endorsement on LinkedIn</a:t>
            </a:r>
            <a:endParaRPr lang="en-US" sz="9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0A406FF-9846-287A-FF9D-6FEB214970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4216" y="868680"/>
            <a:ext cx="3077784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20040" y="987552"/>
            <a:ext cx="48463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484632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context, AI decides for you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572768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Picks generic patterns from training data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075688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Invents unnecessary abstractions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578608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Ignores project conventions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081528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Makes architectural decisions without consulting you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584448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Produces code that "works" but doesn't fit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94960" y="987552"/>
            <a:ext cx="3429000" cy="3886200"/>
          </a:xfrm>
          <a:prstGeom prst="rect">
            <a:avLst/>
          </a:prstGeom>
          <a:solidFill>
            <a:srgbClr val="1B2845"/>
          </a:solidFill>
          <a:ln w="12700">
            <a:solidFill>
              <a:srgbClr val="1B2845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2" name="Text 10"/>
          <p:cNvSpPr/>
          <p:nvPr/>
        </p:nvSpPr>
        <p:spPr>
          <a:xfrm>
            <a:off x="5532120" y="1371600"/>
            <a:ext cx="3154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"You describe a feature,</a:t>
            </a:r>
            <a:endParaRPr lang="en-US" sz="16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receive 400 lines of code,</a:t>
            </a:r>
            <a:endParaRPr lang="en-US" sz="16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you discover that the AI made</a:t>
            </a:r>
            <a:endParaRPr lang="en-US" sz="16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dozen decisions</a:t>
            </a:r>
            <a:endParaRPr lang="en-US" sz="16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never asked you about."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32120" y="40233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Implementation Trap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532120" y="431596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 Garg · martinfowler.com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  The Solution — Context in Layers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56032" y="960120"/>
            <a:ext cx="1627632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4" name="Shape 2"/>
          <p:cNvSpPr/>
          <p:nvPr/>
        </p:nvSpPr>
        <p:spPr>
          <a:xfrm>
            <a:off x="612648" y="1024128"/>
            <a:ext cx="914400" cy="347472"/>
          </a:xfrm>
          <a:prstGeom prst="rect">
            <a:avLst/>
          </a:prstGeom>
          <a:solidFill>
            <a:srgbClr val="5B6BF5"/>
          </a:solidFill>
          <a:ln w="12700">
            <a:solidFill>
              <a:srgbClr val="5B6BF5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" name="Text 3"/>
          <p:cNvSpPr/>
          <p:nvPr/>
        </p:nvSpPr>
        <p:spPr>
          <a:xfrm>
            <a:off x="612648" y="102412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9184" y="146304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9184" y="1883664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layers 1–4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codebase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10896" y="2615184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850" dirty="0">
                <a:solidFill>
                  <a:srgbClr val="5B6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layer-0-</a:t>
            </a:r>
            <a:endParaRPr lang="en-US" sz="8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850" dirty="0">
                <a:solidFill>
                  <a:srgbClr val="5B6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generation-prompt.md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7472" y="3291840"/>
            <a:ext cx="1444752" cy="502920"/>
          </a:xfrm>
          <a:prstGeom prst="rect">
            <a:avLst/>
          </a:prstGeom>
          <a:solidFill>
            <a:srgbClr val="EEF2F7"/>
          </a:solidFill>
          <a:ln w="12700">
            <a:solidFill>
              <a:srgbClr val="C8D2E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0" name="Text 8"/>
          <p:cNvSpPr/>
          <p:nvPr/>
        </p:nvSpPr>
        <p:spPr>
          <a:xfrm>
            <a:off x="347472" y="329184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Once,</a:t>
            </a:r>
            <a:endParaRPr lang="en-US" sz="8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993392" y="960120"/>
            <a:ext cx="1627632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2" name="Shape 10"/>
          <p:cNvSpPr/>
          <p:nvPr/>
        </p:nvSpPr>
        <p:spPr>
          <a:xfrm>
            <a:off x="2350008" y="1024128"/>
            <a:ext cx="914400" cy="347472"/>
          </a:xfrm>
          <a:prstGeom prst="rect">
            <a:avLst/>
          </a:prstGeom>
          <a:solidFill>
            <a:srgbClr val="5B6BF5"/>
          </a:solidFill>
          <a:ln w="12700">
            <a:solidFill>
              <a:srgbClr val="5B6BF5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3" name="Text 11"/>
          <p:cNvSpPr/>
          <p:nvPr/>
        </p:nvSpPr>
        <p:spPr>
          <a:xfrm>
            <a:off x="2350008" y="102412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L1–2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066544" y="146304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Auto-loaded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66544" y="1883664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Identity, stack,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048256" y="2615184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850" dirty="0">
                <a:solidFill>
                  <a:srgbClr val="5B6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.github/copilot-</a:t>
            </a:r>
            <a:endParaRPr lang="en-US" sz="8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850" dirty="0">
                <a:solidFill>
                  <a:srgbClr val="5B6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instructions.md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084832" y="3291840"/>
            <a:ext cx="1444752" cy="502920"/>
          </a:xfrm>
          <a:prstGeom prst="rect">
            <a:avLst/>
          </a:prstGeom>
          <a:solidFill>
            <a:srgbClr val="EEF2F7"/>
          </a:solidFill>
          <a:ln w="12700">
            <a:solidFill>
              <a:srgbClr val="C8D2E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8" name="Text 16"/>
          <p:cNvSpPr/>
          <p:nvPr/>
        </p:nvSpPr>
        <p:spPr>
          <a:xfrm>
            <a:off x="2084832" y="329184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</a:t>
            </a:r>
            <a:endParaRPr lang="en-US" sz="8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730752" y="960120"/>
            <a:ext cx="1627632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20" name="Shape 18"/>
          <p:cNvSpPr/>
          <p:nvPr/>
        </p:nvSpPr>
        <p:spPr>
          <a:xfrm>
            <a:off x="4087368" y="1024128"/>
            <a:ext cx="914400" cy="347472"/>
          </a:xfrm>
          <a:prstGeom prst="rect">
            <a:avLst/>
          </a:prstGeom>
          <a:solidFill>
            <a:srgbClr val="5B6BF5"/>
          </a:solidFill>
          <a:ln w="12700">
            <a:solidFill>
              <a:srgbClr val="5B6BF5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1" name="Text 19"/>
          <p:cNvSpPr/>
          <p:nvPr/>
        </p:nvSpPr>
        <p:spPr>
          <a:xfrm>
            <a:off x="4087368" y="102412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803904" y="146304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03904" y="1883664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handling,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logging...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785616" y="2615184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850" dirty="0">
                <a:solidFill>
                  <a:srgbClr val="5B6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context/skills/</a:t>
            </a:r>
            <a:endParaRPr lang="en-US" sz="8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850" dirty="0">
                <a:solidFill>
                  <a:srgbClr val="5B6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{name}/SKILL.md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822192" y="3291840"/>
            <a:ext cx="1444752" cy="502920"/>
          </a:xfrm>
          <a:prstGeom prst="rect">
            <a:avLst/>
          </a:prstGeom>
          <a:solidFill>
            <a:srgbClr val="EEF2F7"/>
          </a:solidFill>
          <a:ln w="12700">
            <a:solidFill>
              <a:srgbClr val="C8D2E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6" name="Text 24"/>
          <p:cNvSpPr/>
          <p:nvPr/>
        </p:nvSpPr>
        <p:spPr>
          <a:xfrm>
            <a:off x="3822192" y="329184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#file: or by</a:t>
            </a:r>
            <a:endParaRPr lang="en-US" sz="8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in agent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468112" y="960120"/>
            <a:ext cx="1627632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28" name="Shape 26"/>
          <p:cNvSpPr/>
          <p:nvPr/>
        </p:nvSpPr>
        <p:spPr>
          <a:xfrm>
            <a:off x="5824728" y="1024128"/>
            <a:ext cx="914400" cy="347472"/>
          </a:xfrm>
          <a:prstGeom prst="rect">
            <a:avLst/>
          </a:prstGeom>
          <a:solidFill>
            <a:srgbClr val="5B6BF5"/>
          </a:solidFill>
          <a:ln w="12700">
            <a:solidFill>
              <a:srgbClr val="5B6BF5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9" name="Text 27"/>
          <p:cNvSpPr/>
          <p:nvPr/>
        </p:nvSpPr>
        <p:spPr>
          <a:xfrm>
            <a:off x="5824728" y="102412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541264" y="146304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541264" y="1883664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for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tasks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522976" y="2615184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850" dirty="0">
                <a:solidFill>
                  <a:srgbClr val="5B6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layer-4-prompt-</a:t>
            </a:r>
            <a:endParaRPr lang="en-US" sz="8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850" dirty="0">
                <a:solidFill>
                  <a:srgbClr val="5B6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templates.md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559552" y="3291840"/>
            <a:ext cx="1444752" cy="502920"/>
          </a:xfrm>
          <a:prstGeom prst="rect">
            <a:avLst/>
          </a:prstGeom>
          <a:solidFill>
            <a:srgbClr val="EEF2F7"/>
          </a:solidFill>
          <a:ln w="12700">
            <a:solidFill>
              <a:srgbClr val="C8D2E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4" name="Text 32"/>
          <p:cNvSpPr/>
          <p:nvPr/>
        </p:nvSpPr>
        <p:spPr>
          <a:xfrm>
            <a:off x="5559552" y="329184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#file: or by</a:t>
            </a:r>
            <a:endParaRPr lang="en-US" sz="8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in agent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205472" y="960120"/>
            <a:ext cx="1627632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36" name="Shape 34"/>
          <p:cNvSpPr/>
          <p:nvPr/>
        </p:nvSpPr>
        <p:spPr>
          <a:xfrm>
            <a:off x="7562088" y="1024128"/>
            <a:ext cx="914400" cy="3474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7" name="Text 35"/>
          <p:cNvSpPr/>
          <p:nvPr/>
        </p:nvSpPr>
        <p:spPr>
          <a:xfrm>
            <a:off x="7562088" y="102412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278624" y="146304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Docs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278624" y="1883664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impl-guide +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execution-report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260336" y="2615184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8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docs/[STORY]-</a:t>
            </a:r>
            <a:endParaRPr lang="en-US" sz="8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8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*.md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296912" y="3291840"/>
            <a:ext cx="1444752" cy="502920"/>
          </a:xfrm>
          <a:prstGeom prst="rect">
            <a:avLst/>
          </a:prstGeom>
          <a:solidFill>
            <a:srgbClr val="EEF2F7"/>
          </a:solidFill>
          <a:ln w="12700">
            <a:solidFill>
              <a:srgbClr val="C8D2E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2" name="Text 40"/>
          <p:cNvSpPr/>
          <p:nvPr/>
        </p:nvSpPr>
        <p:spPr>
          <a:xfrm>
            <a:off x="7296912" y="329184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path in</a:t>
            </a:r>
            <a:endParaRPr lang="en-US" sz="8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 #file: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56032" y="4681728"/>
            <a:ext cx="8631936" cy="329184"/>
          </a:xfrm>
          <a:prstGeom prst="rect">
            <a:avLst/>
          </a:prstGeom>
          <a:solidFill>
            <a:srgbClr val="1B2845"/>
          </a:solidFill>
          <a:ln w="12700">
            <a:solidFill>
              <a:srgbClr val="1B2845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4" name="Text 42"/>
          <p:cNvSpPr/>
          <p:nvPr/>
        </p:nvSpPr>
        <p:spPr>
          <a:xfrm>
            <a:off x="256032" y="4681728"/>
            <a:ext cx="8631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tool  ·  Same model  ·  Same prompt  ·  The only difference is context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Without Context — What Copilot Generates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8503920" cy="548640"/>
          </a:xfrm>
          <a:prstGeom prst="rect">
            <a:avLst/>
          </a:prstGeom>
          <a:solidFill>
            <a:srgbClr val="0F1729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457200" y="96926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Prompt: "Add a search endpoint that filters products by name and category, with pagination"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20040" y="1554480"/>
            <a:ext cx="5120640" cy="3337560"/>
          </a:xfrm>
          <a:prstGeom prst="rect">
            <a:avLst/>
          </a:prstGeom>
          <a:solidFill>
            <a:srgbClr val="0F1729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" name="Text 4"/>
          <p:cNvSpPr/>
          <p:nvPr/>
        </p:nvSpPr>
        <p:spPr>
          <a:xfrm>
            <a:off x="457200" y="162763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generates: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75488" y="19385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@Autowired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5488" y="22219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ProductRepository repository;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5488" y="250545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5488" y="27889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@GetMapping("/search")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5488" y="30723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Page&lt;Product&gt; search(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" y="335584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@RequestParam String name,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5488" y="36393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Pageable pageable) {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5488" y="392277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repository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5488" y="4206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.findByNameContaining(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5488" y="448970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name, pageable);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5488" y="47731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577840" y="1554480"/>
            <a:ext cx="324612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9" name="Shape 17"/>
          <p:cNvSpPr/>
          <p:nvPr/>
        </p:nvSpPr>
        <p:spPr>
          <a:xfrm>
            <a:off x="5577840" y="1554480"/>
            <a:ext cx="324612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0" name="Text 18"/>
          <p:cNvSpPr/>
          <p:nvPr/>
        </p:nvSpPr>
        <p:spPr>
          <a:xfrm>
            <a:off x="5715000" y="1664208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nobody asked for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715000" y="208483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@Autowired on field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806440" y="235915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uses constructor injection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715000" y="28346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ProductRepository invented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806440" y="310896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has no repository layer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15000" y="35844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Spring Data Pageable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806440" y="385876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does not use Spring Data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715000" y="433425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Long implied for IDs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806440" y="4608576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defines UUID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With Context — Same Prompt, Different Output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8503920" cy="548640"/>
          </a:xfrm>
          <a:prstGeom prst="rect">
            <a:avLst/>
          </a:prstGeom>
          <a:solidFill>
            <a:srgbClr val="0F1729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457200" y="96926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 prompt — now with .github/copilot-instructions.md loaded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20040" y="1554480"/>
            <a:ext cx="5120640" cy="3337560"/>
          </a:xfrm>
          <a:prstGeom prst="rect">
            <a:avLst/>
          </a:prstGeom>
          <a:solidFill>
            <a:srgbClr val="0F1729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" name="Text 4"/>
          <p:cNvSpPr/>
          <p:nvPr/>
        </p:nvSpPr>
        <p:spPr>
          <a:xfrm>
            <a:off x="457200" y="162763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generates: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75488" y="193852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final ProductService productService;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75488" y="2185416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" y="2432304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@GetMapping("/search")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5488" y="267919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ResponseEntity&lt;ProductPage&gt; search(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5488" y="292608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@RequestParam(required = false)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" y="317296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String name,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" y="3419856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@RequestParam(required = false)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" y="3666744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String category,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" y="391363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@RequestParam(defaultValue="0")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5488" y="416052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 page,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" y="440740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@RequestParam(defaultValue="20")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" y="4654296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 size) {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577840" y="1554480"/>
            <a:ext cx="324612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20" name="Shape 18"/>
          <p:cNvSpPr/>
          <p:nvPr/>
        </p:nvSpPr>
        <p:spPr>
          <a:xfrm>
            <a:off x="5577840" y="1554480"/>
            <a:ext cx="324612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1" name="Text 19"/>
          <p:cNvSpPr/>
          <p:nvPr/>
        </p:nvSpPr>
        <p:spPr>
          <a:xfrm>
            <a:off x="5715000" y="1664208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context enforced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715000" y="208483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Constructor injection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06440" y="2340864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final — no @Autowired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715000" y="268833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repository layer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06440" y="2944368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Delegates directly to ProductService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715000" y="329184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Manual pagination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06440" y="3547872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ProductPage, no Spring Data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715000" y="38953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UUID for IDs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806440" y="4151376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Respects the project constraint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715000" y="449884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Javadoc on public method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806440" y="475488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Non-negotiable of the project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The File That Makes the Difference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78638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.github/copilot-instructions.md — auto-loaded in every Copilot session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4206240" cy="1755648"/>
          </a:xfrm>
          <a:prstGeom prst="rect">
            <a:avLst/>
          </a:prstGeom>
          <a:solidFill>
            <a:srgbClr val="0F1729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Non-Negotiables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58191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No business logic in controllers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Constructor injection only — no @Autowired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207568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All public service methods have Javadoc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232257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Named domain exceptions only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56946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UUID for all product identifiers — never Long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17720" y="1143000"/>
            <a:ext cx="4206240" cy="1938528"/>
          </a:xfrm>
          <a:prstGeom prst="rect">
            <a:avLst/>
          </a:prstGeom>
          <a:solidFill>
            <a:srgbClr val="0F1729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2" name="Text 10"/>
          <p:cNvSpPr/>
          <p:nvPr/>
        </p:nvSpPr>
        <p:spPr>
          <a:xfrm>
            <a:off x="4754880" y="12344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Anti-Patterns — Never Propose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158191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Do not add @Autowired on fields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54880" y="182880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Do not use Long or int for IDs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54880" y="207568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Do not put logic in controllers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54880" y="232257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Do not throw RuntimeException directly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54880" y="256946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Do not add Spring Data or JPA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54880" y="281635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Do not add pagination or filtering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2971800"/>
            <a:ext cx="4206240" cy="1783080"/>
          </a:xfrm>
          <a:prstGeom prst="rect">
            <a:avLst/>
          </a:prstGeom>
          <a:solidFill>
            <a:srgbClr val="0F1729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0" name="Text 18"/>
          <p:cNvSpPr/>
          <p:nvPr/>
        </p:nvSpPr>
        <p:spPr>
          <a:xfrm>
            <a:off x="457200" y="30632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What This Project Is NOT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41071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Not database-backed — in-memory only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365760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Not authenticated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390448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Not paginated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415137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Not using Spring Data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17720" y="2971800"/>
            <a:ext cx="4206240" cy="1783080"/>
          </a:xfrm>
          <a:prstGeom prst="rect">
            <a:avLst/>
          </a:prstGeom>
          <a:solidFill>
            <a:srgbClr val="0F1729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6" name="Text 24"/>
          <p:cNvSpPr/>
          <p:nvPr/>
        </p:nvSpPr>
        <p:spPr>
          <a:xfrm>
            <a:off x="4754880" y="30632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Architecture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341071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ProductController → ProductService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54880" y="365760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ConcurrentHashMap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54880" y="390448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54880" y="415137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repository layer.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54880" y="439826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 owns the store directly.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20040" y="480060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rules live in a markdown file inside the repo. Copilot reads them automatically.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The Two-Document Rule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40690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069080" cy="54864"/>
          </a:xfrm>
          <a:prstGeom prst="rect">
            <a:avLst/>
          </a:prstGeom>
          <a:solidFill>
            <a:srgbClr val="5B6BF5"/>
          </a:solidFill>
          <a:ln w="12700">
            <a:solidFill>
              <a:srgbClr val="5B6BF5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1 — Implementation Guide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code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87452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Scope — what is built, what is NOT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2350008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Components — blocks and responsibility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2825496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Interactions — data flow + error paths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3300984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Contracts — signatures, types, DTOs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3776472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code — design only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62272" y="2926080"/>
            <a:ext cx="365760" cy="0"/>
          </a:xfrm>
          <a:prstGeom prst="line">
            <a:avLst/>
          </a:prstGeom>
          <a:noFill/>
          <a:ln w="25400">
            <a:solidFill>
              <a:srgbClr val="5B6BF5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3" name="Text 11"/>
          <p:cNvSpPr/>
          <p:nvPr/>
        </p:nvSpPr>
        <p:spPr>
          <a:xfrm>
            <a:off x="4370832" y="280720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B6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754880" y="1005840"/>
            <a:ext cx="40690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5" name="Shape 13"/>
          <p:cNvSpPr/>
          <p:nvPr/>
        </p:nvSpPr>
        <p:spPr>
          <a:xfrm>
            <a:off x="4754880" y="1005840"/>
            <a:ext cx="406908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6" name="Text 14"/>
          <p:cNvSpPr/>
          <p:nvPr/>
        </p:nvSpPr>
        <p:spPr>
          <a:xfrm>
            <a:off x="4892040" y="11155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2 — Execution Report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92040" y="148132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code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187452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What was implemented and where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937760" y="2350008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Deviations from the guide and why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937760" y="2825496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How to run the app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937760" y="3300984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How to run the tests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937760" y="3776472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Commit message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Design Corrections — Before the Code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" y="987552"/>
            <a:ext cx="85039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54864" cy="16642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" name="Text 3"/>
          <p:cNvSpPr/>
          <p:nvPr/>
        </p:nvSpPr>
        <p:spPr>
          <a:xfrm>
            <a:off x="475488" y="107899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1 — @Autowired on field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" y="1463040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used @Autowired on field — the generic Java default.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1737360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project defines constructor injection only. Corrected in the document.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040880" y="1152144"/>
            <a:ext cx="1645920" cy="1261872"/>
          </a:xfrm>
          <a:prstGeom prst="rect">
            <a:avLst/>
          </a:prstGeom>
          <a:solidFill>
            <a:srgbClr val="0F1729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9" name="Text 7"/>
          <p:cNvSpPr/>
          <p:nvPr/>
        </p:nvSpPr>
        <p:spPr>
          <a:xfrm>
            <a:off x="7114032" y="1207008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 if not corrected: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controllers +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wiring tests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2816352"/>
            <a:ext cx="85039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1" name="Shape 9"/>
          <p:cNvSpPr/>
          <p:nvPr/>
        </p:nvSpPr>
        <p:spPr>
          <a:xfrm>
            <a:off x="320040" y="2816352"/>
            <a:ext cx="54864" cy="16642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2" name="Text 10"/>
          <p:cNvSpPr/>
          <p:nvPr/>
        </p:nvSpPr>
        <p:spPr>
          <a:xfrm>
            <a:off x="475488" y="290779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2 — UUID instead of Long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" y="3291840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used Long for IDs — the typical Java default. But the project defines UUID.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" y="3566160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in the implementation guide, not in code.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040880" y="2980944"/>
            <a:ext cx="1645920" cy="1261872"/>
          </a:xfrm>
          <a:prstGeom prst="rect">
            <a:avLst/>
          </a:prstGeom>
          <a:solidFill>
            <a:srgbClr val="0F1729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6" name="Text 14"/>
          <p:cNvSpPr/>
          <p:nvPr/>
        </p:nvSpPr>
        <p:spPr>
          <a:xfrm>
            <a:off x="7114032" y="3035808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 if not corrected: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signatures, tests, URLs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0040" y="4663440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corrections: 1 document iteration. 0 lines of code touched.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How to Start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27432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4" name="Shape 2"/>
          <p:cNvSpPr/>
          <p:nvPr/>
        </p:nvSpPr>
        <p:spPr>
          <a:xfrm>
            <a:off x="1371600" y="1115568"/>
            <a:ext cx="640080" cy="640080"/>
          </a:xfrm>
          <a:prstGeom prst="ellipse">
            <a:avLst/>
          </a:prstGeom>
          <a:solidFill>
            <a:srgbClr val="5B6BF5"/>
          </a:solidFill>
          <a:ln w="12700">
            <a:solidFill>
              <a:srgbClr val="5B6BF5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" name="Text 3"/>
          <p:cNvSpPr/>
          <p:nvPr/>
        </p:nvSpPr>
        <p:spPr>
          <a:xfrm>
            <a:off x="1371600" y="1115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29768" y="1901952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0 — 15 minutes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prompt analyzes your existing codebase</a:t>
            </a:r>
            <a:endParaRPr lang="en-US" sz="1150" dirty="0"/>
          </a:p>
          <a:p>
            <a:pPr marL="0" indent="0" algn="ctr">
              <a:lnSpc>
                <a:spcPct val="14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generates context layers 1–4.</a:t>
            </a:r>
            <a:endParaRPr lang="en-US" sz="1150" dirty="0"/>
          </a:p>
          <a:p>
            <a:pPr marL="0" indent="0" algn="ctr">
              <a:lnSpc>
                <a:spcPct val="14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 changes needed.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7432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9" name="Shape 7"/>
          <p:cNvSpPr/>
          <p:nvPr/>
        </p:nvSpPr>
        <p:spPr>
          <a:xfrm>
            <a:off x="4251960" y="1115568"/>
            <a:ext cx="640080" cy="640080"/>
          </a:xfrm>
          <a:prstGeom prst="ellipse">
            <a:avLst/>
          </a:prstGeom>
          <a:solidFill>
            <a:srgbClr val="5B6BF5"/>
          </a:solidFill>
          <a:ln w="12700">
            <a:solidFill>
              <a:srgbClr val="5B6BF5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0" name="Text 8"/>
          <p:cNvSpPr/>
          <p:nvPr/>
        </p:nvSpPr>
        <p:spPr>
          <a:xfrm>
            <a:off x="4251960" y="1115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310128" y="1901952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story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7560" y="24688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small feature.</a:t>
            </a:r>
            <a:endParaRPr lang="en-US" sz="1150" dirty="0"/>
          </a:p>
          <a:p>
            <a:pPr marL="0" indent="0" algn="ctr">
              <a:lnSpc>
                <a:spcPct val="14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impl-guide before the code.</a:t>
            </a:r>
            <a:endParaRPr lang="en-US" sz="1150" dirty="0"/>
          </a:p>
          <a:p>
            <a:pPr marL="0" indent="0" algn="ctr">
              <a:lnSpc>
                <a:spcPct val="14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is visible in the first session.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80760" y="1005840"/>
            <a:ext cx="27432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2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4" name="Shape 12"/>
          <p:cNvSpPr/>
          <p:nvPr/>
        </p:nvSpPr>
        <p:spPr>
          <a:xfrm>
            <a:off x="7132320" y="1115568"/>
            <a:ext cx="640080" cy="640080"/>
          </a:xfrm>
          <a:prstGeom prst="ellipse">
            <a:avLst/>
          </a:prstGeom>
          <a:solidFill>
            <a:srgbClr val="5B6BF5"/>
          </a:solidFill>
          <a:ln w="12700">
            <a:solidFill>
              <a:srgbClr val="5B6BF5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5" name="Text 13"/>
          <p:cNvSpPr/>
          <p:nvPr/>
        </p:nvSpPr>
        <p:spPr>
          <a:xfrm>
            <a:off x="7132320" y="1115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190488" y="1901952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improvement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0" y="24688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context were you missing</a:t>
            </a:r>
            <a:endParaRPr lang="en-US" sz="1150" dirty="0"/>
          </a:p>
          <a:p>
            <a:pPr marL="0" indent="0" algn="ctr">
              <a:lnSpc>
                <a:spcPct val="14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would have changed your approach?"</a:t>
            </a:r>
            <a:endParaRPr lang="en-US" sz="1150" dirty="0"/>
          </a:p>
          <a:p>
            <a:pPr marL="0" indent="0" algn="ctr">
              <a:lnSpc>
                <a:spcPct val="14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answer improves the context files.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ran against a generic CRUD app.</a:t>
            </a:r>
            <a:endParaRPr lang="en-US" sz="16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value is when it runs against your code.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260604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you're interested, next time we do it</a:t>
            </a:r>
            <a:endParaRPr lang="en-US" sz="18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one of your features.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37490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github.com/andresdiegolanda/design-first-ai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41148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License  ·  Open  ·  Free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1157</Words>
  <Application>Microsoft Office PowerPoint</Application>
  <PresentationFormat>On-screen Show (16:9)</PresentationFormat>
  <Paragraphs>243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Design-First AI Collaboration</dc:title>
  <dc:subject>PptxGenJS Presentation</dc:subject>
  <dc:creator>Andrés Landa</dc:creator>
  <cp:lastModifiedBy>Andres Landa</cp:lastModifiedBy>
  <cp:revision>2</cp:revision>
  <dcterms:created xsi:type="dcterms:W3CDTF">2026-04-21T07:27:53Z</dcterms:created>
  <dcterms:modified xsi:type="dcterms:W3CDTF">2026-04-21T08:04:39Z</dcterms:modified>
</cp:coreProperties>
</file>